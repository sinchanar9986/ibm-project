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5" r:id="rId7"/>
    <p:sldId id="278" r:id="rId8"/>
    <p:sldId id="281" r:id="rId9"/>
    <p:sldId id="279" r:id="rId10"/>
    <p:sldId id="291" r:id="rId11"/>
    <p:sldId id="262" r:id="rId12"/>
    <p:sldId id="264" r:id="rId13"/>
    <p:sldId id="290" r:id="rId14"/>
    <p:sldId id="292" r:id="rId15"/>
    <p:sldId id="293" r:id="rId16"/>
    <p:sldId id="286" r:id="rId17"/>
    <p:sldId id="287" r:id="rId18"/>
    <p:sldId id="280" r:id="rId19"/>
    <p:sldId id="288" r:id="rId20"/>
    <p:sldId id="289"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2800" u="none" strike="noStrike" cap="none"/>
                        <a:t>Student Name</a:t>
                      </a:r>
                      <a:endParaRPr sz="2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800" u="none" strike="noStrike" cap="none"/>
                        <a:t>Recent Passport Photo</a:t>
                      </a:r>
                      <a:endParaRPr sz="2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2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2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2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2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2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2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IN" sz="2000" b="0"/>
                        <a:t>Sinchana R</a:t>
                      </a:r>
                      <a:endParaRPr lang="en-IN" sz="2000" b="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b="0"/>
                        <a:t>sinchanar9986@gmail.com</a:t>
                      </a:r>
                      <a:endParaRPr lang="en-IN" sz="2000" b="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a:t>7411358789</a:t>
                      </a:r>
                      <a:endParaRPr lang="en-IN"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521970"/>
          </a:xfrm>
          <a:prstGeom prst="rect">
            <a:avLst/>
          </a:prstGeom>
          <a:noFill/>
        </p:spPr>
        <p:txBody>
          <a:bodyPr wrap="square" rtlCol="0">
            <a:spAutoFit/>
          </a:bodyPr>
          <a:lstStyle/>
          <a:p>
            <a:r>
              <a:rPr lang="en-US" sz="2800" b="1"/>
              <a:t>Domain of  Project – </a:t>
            </a:r>
            <a:r>
              <a:rPr lang="en-IN" altLang="en-US" sz="2800" b="1"/>
              <a:t> Education</a:t>
            </a:r>
            <a:endParaRPr lang="en-IN" altLang="en-US" sz="2800" b="1">
              <a:highlight>
                <a:srgbClr val="FFFF00"/>
              </a:highlight>
            </a:endParaRPr>
          </a:p>
        </p:txBody>
      </p:sp>
      <p:sp>
        <p:nvSpPr>
          <p:cNvPr id="7" name="TextBox 6"/>
          <p:cNvSpPr txBox="1"/>
          <p:nvPr/>
        </p:nvSpPr>
        <p:spPr>
          <a:xfrm>
            <a:off x="1206162" y="551965"/>
            <a:ext cx="9581177" cy="521970"/>
          </a:xfrm>
          <a:prstGeom prst="rect">
            <a:avLst/>
          </a:prstGeom>
          <a:noFill/>
        </p:spPr>
        <p:txBody>
          <a:bodyPr wrap="square" rtlCol="0">
            <a:spAutoFit/>
          </a:bodyPr>
          <a:lstStyle/>
          <a:p>
            <a:r>
              <a:rPr lang="en-US" sz="2800" b="1"/>
              <a:t>Project Tile –</a:t>
            </a:r>
            <a:r>
              <a:rPr lang="en-IN" altLang="en-US" sz="2800" b="1"/>
              <a:t> </a:t>
            </a:r>
            <a:r>
              <a:rPr lang="en-US" altLang="en-US" sz="2800" b="1"/>
              <a:t> Smart Study Generator Agent</a:t>
            </a:r>
            <a:r>
              <a:rPr lang="en-US" sz="2400" b="1"/>
              <a:t> </a:t>
            </a:r>
            <a:endParaRPr lang="en-IN" sz="2400" b="1">
              <a:highlight>
                <a:srgbClr val="FFFF00"/>
              </a:highlight>
            </a:endParaRPr>
          </a:p>
        </p:txBody>
      </p:sp>
      <p:pic>
        <p:nvPicPr>
          <p:cNvPr id="2" name="Picture 1"/>
          <p:cNvPicPr>
            <a:picLocks noChangeAspect="1"/>
          </p:cNvPicPr>
          <p:nvPr/>
        </p:nvPicPr>
        <p:blipFill>
          <a:blip r:embed="rId1"/>
          <a:srcRect t="21296" r="-1245" b="20796"/>
          <a:stretch>
            <a:fillRect/>
          </a:stretch>
        </p:blipFill>
        <p:spPr>
          <a:xfrm>
            <a:off x="4183380" y="4032885"/>
            <a:ext cx="862330" cy="10693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323205"/>
          </a:xfrm>
          <a:prstGeom prst="rect">
            <a:avLst/>
          </a:prstGeom>
          <a:noFill/>
        </p:spPr>
        <p:txBody>
          <a:bodyPr wrap="square" rtlCol="0">
            <a:spAutoFit/>
          </a:bodyPr>
          <a:lstStyle/>
          <a:p>
            <a:pPr fontAlgn="base"/>
            <a:r>
              <a:rPr lang="en-IN" altLang="en-US" sz="1800" b="1" dirty="0"/>
              <a:t>Problem statement : </a:t>
            </a:r>
            <a:r>
              <a:rPr lang="en-US" altLang="en-US" sz="1800" b="1" dirty="0"/>
              <a:t>Smart Study Generator </a:t>
            </a:r>
            <a:r>
              <a:rPr lang="en-IN" altLang="en-US" sz="1800" b="1" dirty="0"/>
              <a:t>A</a:t>
            </a:r>
            <a:r>
              <a:rPr lang="en-US" altLang="en-US" sz="1800" b="1" dirty="0"/>
              <a:t>gent</a:t>
            </a:r>
            <a:endParaRPr lang="en-US" altLang="en-US" sz="1800" dirty="0"/>
          </a:p>
          <a:p>
            <a:pPr fontAlgn="base"/>
            <a:endParaRPr lang="en-US" b="1" dirty="0"/>
          </a:p>
          <a:p>
            <a:pPr fontAlgn="base"/>
            <a:r>
              <a:rPr lang="en-US" sz="2800" b="1" dirty="0"/>
              <a:t>The Challenge</a:t>
            </a:r>
            <a:endParaRPr lang="en-US" sz="2800" b="1" dirty="0"/>
          </a:p>
          <a:p>
            <a:pPr fontAlgn="base"/>
            <a:r>
              <a:rPr lang="en-US" altLang="en-US"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 </a:t>
            </a:r>
            <a:endParaRPr lang="en-US" altLang="en-US" dirty="0"/>
          </a:p>
          <a:p>
            <a:pPr fontAlgn="base"/>
            <a:endParaRPr lang="en-US" dirty="0"/>
          </a:p>
          <a:p>
            <a:pPr fontAlgn="base"/>
            <a:r>
              <a:rPr lang="en-US" b="1" dirty="0"/>
              <a:t>The Objective</a:t>
            </a:r>
            <a:endParaRPr lang="en-US" b="1" dirty="0"/>
          </a:p>
          <a:p>
            <a:pPr fontAlgn="base"/>
            <a:r>
              <a:rPr lang="en-US" altLang="en-US" dirty="0"/>
              <a:t>Build an agentic AI-powered Smart Study Generator that personalizes and streamlines learning for students. The solution should</a:t>
            </a:r>
            <a:r>
              <a:rPr lang="en-US" altLang="en-US" b="1" dirty="0"/>
              <a:t>: </a:t>
            </a:r>
            <a:r>
              <a:rPr lang="en-US" dirty="0"/>
              <a:t> </a:t>
            </a:r>
            <a:endParaRPr lang="en-US" dirty="0"/>
          </a:p>
          <a:p>
            <a:pPr fontAlgn="base"/>
            <a:endParaRPr lang="en-US" dirty="0"/>
          </a:p>
          <a:p>
            <a:r>
              <a:rPr lang="en-US" altLang="en-US" b="1" dirty="0"/>
              <a:t>1. Fuse Learning Resources:</a:t>
            </a:r>
            <a:r>
              <a:rPr lang="en-US" altLang="en-US" dirty="0"/>
              <a:t> Aggregate content from class notes, textbooks, research articles, and online tutorials into structured, easy-to-digest study material.</a:t>
            </a:r>
            <a:endParaRPr lang="en-US" altLang="en-US" dirty="0"/>
          </a:p>
          <a:p>
            <a:endParaRPr lang="en-US" altLang="en-US" dirty="0"/>
          </a:p>
          <a:p>
            <a:r>
              <a:rPr lang="en-US" altLang="en-US" b="1" dirty="0"/>
              <a:t> 2. Enable Multimodal Input:</a:t>
            </a:r>
            <a:r>
              <a:rPr lang="en-US" altLang="en-US" dirty="0"/>
              <a:t> Allow students to upload notes, voice queries, or images (e.g., textbook pages), and generate concise summaries, flashcards, or concept maps.</a:t>
            </a:r>
            <a:endParaRPr lang="en-US" altLang="en-US" dirty="0"/>
          </a:p>
          <a:p>
            <a:endParaRPr lang="en-US" altLang="en-US" dirty="0"/>
          </a:p>
          <a:p>
            <a:r>
              <a:rPr lang="en-US" altLang="en-US" b="1" dirty="0"/>
              <a:t> 3. Create a Predictive &amp; Agentic Layer</a:t>
            </a:r>
            <a:r>
              <a:rPr lang="en-US" altLang="en-US" dirty="0"/>
              <a:t>: Recommend personalized study plans, highlight important topics based on syllabus or past exams, and provide predictive alerts (e.g., “Focus on Topic X—frequently asked in exams”). </a:t>
            </a:r>
            <a:endParaRPr lang="en-US" altLang="en-US" dirty="0"/>
          </a:p>
          <a:p>
            <a:endParaRPr lang="en-US" altLang="en-US" dirty="0"/>
          </a:p>
          <a:p>
            <a:r>
              <a:rPr lang="en-US" altLang="en-US" b="1" dirty="0"/>
              <a:t>4. Visualize Study Progress:</a:t>
            </a:r>
            <a:r>
              <a:rPr lang="en-US" altLang="en-US" dirty="0"/>
              <a:t> Offer a real-time dashboard showing learning milestones, weak areas, practice quizzes, and performance forecasts. </a:t>
            </a:r>
            <a:endParaRPr lang="en-US" altLang="en-US" dirty="0"/>
          </a:p>
        </p:txBody>
      </p:sp>
      <p:sp>
        <p:nvSpPr>
          <p:cNvPr id="3" name="TextBox 2"/>
          <p:cNvSpPr txBox="1"/>
          <p:nvPr/>
        </p:nvSpPr>
        <p:spPr>
          <a:xfrm>
            <a:off x="576072" y="704088"/>
            <a:ext cx="7214616" cy="521970"/>
          </a:xfrm>
          <a:prstGeom prst="rect">
            <a:avLst/>
          </a:prstGeom>
          <a:noFill/>
        </p:spPr>
        <p:txBody>
          <a:bodyPr wrap="square" rtlCol="0">
            <a:spAutoFit/>
          </a:bodyPr>
          <a:lstStyle/>
          <a:p>
            <a:r>
              <a:rPr lang="en-US" sz="2800" b="1"/>
              <a:t>Problem Statement </a:t>
            </a:r>
            <a:r>
              <a:rPr lang="en-US" sz="2400" b="1"/>
              <a:t>-</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262245"/>
          </a:xfrm>
          <a:prstGeom prst="rect">
            <a:avLst/>
          </a:prstGeom>
          <a:noFill/>
        </p:spPr>
        <p:txBody>
          <a:bodyPr wrap="square" rtlCol="0">
            <a:spAutoFit/>
          </a:bodyPr>
          <a:lstStyle/>
          <a:p>
            <a:pPr fontAlgn="base"/>
            <a:r>
              <a:rPr lang="en-US" altLang="en-US" sz="1800" b="1" dirty="0"/>
              <a:t>Proposed Solution – Smart Study Generator Agent</a:t>
            </a:r>
            <a:endParaRPr lang="en-US" altLang="en-US" sz="1800" b="1" dirty="0"/>
          </a:p>
          <a:p>
            <a:pPr fontAlgn="base"/>
            <a:endParaRPr lang="en-US" altLang="en-US" dirty="0"/>
          </a:p>
          <a:p>
            <a:pPr fontAlgn="base"/>
            <a:r>
              <a:rPr lang="en-US" altLang="en-US" dirty="0"/>
              <a:t>-</a:t>
            </a:r>
            <a:r>
              <a:rPr lang="en-US" altLang="en-US" sz="1600" dirty="0"/>
              <a:t> Develop an AI-powered smart learning platform that generates personalized study materials based on students’ subjects, topics, and learning needs.</a:t>
            </a:r>
            <a:endParaRPr lang="en-US" altLang="en-US" sz="1600" dirty="0"/>
          </a:p>
          <a:p>
            <a:pPr fontAlgn="base"/>
            <a:endParaRPr lang="en-US" altLang="en-US" sz="1600" dirty="0"/>
          </a:p>
          <a:p>
            <a:pPr fontAlgn="base"/>
            <a:r>
              <a:rPr lang="en-US" altLang="en-US" sz="1600" dirty="0"/>
              <a:t>- Use AI to summarize notes, simplify complex concepts, and generate quizzes, flashcards, and concept maps automatically.</a:t>
            </a:r>
            <a:endParaRPr lang="en-US" altLang="en-US" sz="1600" dirty="0"/>
          </a:p>
          <a:p>
            <a:pPr fontAlgn="base"/>
            <a:endParaRPr lang="en-US" altLang="en-US" sz="1600" dirty="0"/>
          </a:p>
          <a:p>
            <a:pPr fontAlgn="base"/>
            <a:r>
              <a:rPr lang="en-US" altLang="en-US" sz="1600" dirty="0"/>
              <a:t>- Provide an AI Study Planner that creates a structured study schedule according to students’ goals and available time.</a:t>
            </a:r>
            <a:endParaRPr lang="en-US" altLang="en-US" sz="1600" dirty="0"/>
          </a:p>
          <a:p>
            <a:pPr fontAlgn="base"/>
            <a:endParaRPr lang="en-US" altLang="en-US" sz="1600" dirty="0"/>
          </a:p>
          <a:p>
            <a:pPr fontAlgn="base"/>
            <a:r>
              <a:rPr lang="en-US" altLang="en-US" sz="1600" dirty="0"/>
              <a:t>- Track students’ learning progress through analytics, identify weak topics, and recommend areas that need improvement.</a:t>
            </a:r>
            <a:endParaRPr lang="en-US" altLang="en-US" sz="1600" dirty="0"/>
          </a:p>
          <a:p>
            <a:pPr fontAlgn="base"/>
            <a:endParaRPr lang="en-US" altLang="en-US" sz="1600" dirty="0"/>
          </a:p>
          <a:p>
            <a:pPr fontAlgn="base"/>
            <a:r>
              <a:rPr lang="en-US" altLang="en-US" sz="1600" dirty="0"/>
              <a:t>- Implement an AI assistant that answers questions from uploaded study notes and provides relevant explanations.</a:t>
            </a:r>
            <a:endParaRPr lang="en-US" altLang="en-US" sz="1600" dirty="0"/>
          </a:p>
          <a:p>
            <a:pPr fontAlgn="base"/>
            <a:endParaRPr lang="en-US" altLang="en-US" sz="1600" dirty="0"/>
          </a:p>
          <a:p>
            <a:pPr fontAlgn="base"/>
            <a:r>
              <a:rPr lang="en-US" altLang="en-US" sz="1600" dirty="0"/>
              <a:t>- Use a multi-agent approach to perform different tasks such as content generation, quiz creation, doubt solving, and study planning.</a:t>
            </a:r>
            <a:endParaRPr lang="en-US" altLang="en-US" sz="1600" dirty="0"/>
          </a:p>
          <a:p>
            <a:pPr fontAlgn="base"/>
            <a:endParaRPr lang="en-US" altLang="en-US" sz="1600" dirty="0"/>
          </a:p>
          <a:p>
            <a:pPr fontAlgn="base"/>
            <a:r>
              <a:rPr lang="en-US" altLang="en-US" sz="1600" dirty="0"/>
              <a:t>The proposed solution helps students learn more effectively, save time, and improve their academic performance through personalized and interactive learning.</a:t>
            </a:r>
            <a:endParaRPr lang="en-IN" sz="1600"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4677410"/>
          </a:xfrm>
          <a:prstGeom prst="rect">
            <a:avLst/>
          </a:prstGeom>
          <a:noFill/>
        </p:spPr>
        <p:txBody>
          <a:bodyPr wrap="square" rtlCol="0">
            <a:spAutoFit/>
          </a:bodyPr>
          <a:lstStyle/>
          <a:p>
            <a:r>
              <a:rPr lang="en-US" altLang="en-US" sz="1800" b="1" dirty="0"/>
              <a:t>Technology Used – Smart Study Generator Agent</a:t>
            </a:r>
            <a:endParaRPr lang="en-US" altLang="en-US" sz="1800" b="1" dirty="0"/>
          </a:p>
          <a:p>
            <a:endParaRPr lang="en-US" altLang="en-US" dirty="0"/>
          </a:p>
          <a:p>
            <a:r>
              <a:rPr lang="en-US" altLang="en-US" b="1" dirty="0"/>
              <a:t>- Frontend (React.js, HTML, CSS, JavaScript):</a:t>
            </a:r>
            <a:r>
              <a:rPr lang="en-US" altLang="en-US" dirty="0"/>
              <a:t> Develops the interactive website, dashboard, study materials, quizzes, and analytics.</a:t>
            </a:r>
            <a:endParaRPr lang="en-US" altLang="en-US" dirty="0"/>
          </a:p>
          <a:p>
            <a:endParaRPr lang="en-US" altLang="en-US" dirty="0"/>
          </a:p>
          <a:p>
            <a:r>
              <a:rPr lang="en-US" altLang="en-US" dirty="0"/>
              <a:t>-</a:t>
            </a:r>
            <a:r>
              <a:rPr lang="en-US" altLang="en-US" b="1" dirty="0"/>
              <a:t> Backend (Node.js):</a:t>
            </a:r>
            <a:r>
              <a:rPr lang="en-US" altLang="en-US" dirty="0"/>
              <a:t> Handles application logic, API requests, and communication between the frontend and AI services.</a:t>
            </a:r>
            <a:endParaRPr lang="en-US" altLang="en-US" dirty="0"/>
          </a:p>
          <a:p>
            <a:endParaRPr lang="en-US" altLang="en-US" dirty="0"/>
          </a:p>
          <a:p>
            <a:r>
              <a:rPr lang="en-US" altLang="en-US" b="1" dirty="0"/>
              <a:t>- IBM watsonx.ai</a:t>
            </a:r>
            <a:r>
              <a:rPr lang="en-US" altLang="en-US" dirty="0"/>
              <a:t>: Provides AI models and services for generating study materials, summarizing content, and answering student questions.</a:t>
            </a:r>
            <a:endParaRPr lang="en-US" altLang="en-US" dirty="0"/>
          </a:p>
          <a:p>
            <a:endParaRPr lang="en-US" altLang="en-US" dirty="0"/>
          </a:p>
          <a:p>
            <a:r>
              <a:rPr lang="en-US" altLang="en-US" b="1" dirty="0"/>
              <a:t>- IBM Granite Model:</a:t>
            </a:r>
            <a:r>
              <a:rPr lang="en-US" altLang="en-US" dirty="0"/>
              <a:t> Supports natural language understanding, reasoning, and personalized educational responses.</a:t>
            </a:r>
            <a:endParaRPr lang="en-US" altLang="en-US" dirty="0"/>
          </a:p>
          <a:p>
            <a:endParaRPr lang="en-US" altLang="en-US" dirty="0"/>
          </a:p>
          <a:p>
            <a:r>
              <a:rPr lang="en-US" altLang="en-US" b="1" dirty="0"/>
              <a:t>- IBM watsonx Orchestrate / IBM watsonx.ai Agent capabilities</a:t>
            </a:r>
            <a:r>
              <a:rPr lang="en-US" altLang="en-US" dirty="0"/>
              <a:t>: Can be used to coordinate multiple AI agents for study planning, quiz generation, and doubt solving.</a:t>
            </a:r>
            <a:endParaRPr lang="en-US" altLang="en-US" dirty="0"/>
          </a:p>
          <a:p>
            <a:endParaRPr lang="en-US" altLang="en-US" dirty="0"/>
          </a:p>
          <a:p>
            <a:r>
              <a:rPr lang="en-US" altLang="en-US" b="1" dirty="0"/>
              <a:t>- Retrieval-Augmented Generation (RAG)</a:t>
            </a:r>
            <a:r>
              <a:rPr lang="en-US" altLang="en-US" dirty="0"/>
              <a:t>: Retrieves relevant information from uploaded notes and study materials before generating answers.</a:t>
            </a:r>
            <a:endParaRPr lang="en-US" altLang="en-US" dirty="0"/>
          </a:p>
          <a:p>
            <a:endParaRPr lang="en-US" altLang="en-US" dirty="0"/>
          </a:p>
          <a:p>
            <a:r>
              <a:rPr lang="en-US" altLang="en-US" b="1" dirty="0"/>
              <a:t>- Vector Database (FAISS/Chroma)</a:t>
            </a:r>
            <a:r>
              <a:rPr lang="en-US" altLang="en-US" dirty="0"/>
              <a:t>: Stores vector embeddings and retrieves relevant content for RAG-based question answering.</a:t>
            </a:r>
            <a:endParaRPr lang="en-US" altLang="en-US" dirty="0"/>
          </a:p>
          <a:p>
            <a:r>
              <a:rPr lang="en-US" altLang="en-US" dirty="0"/>
              <a:t>- Analytics and Visualization: Displays quiz scores, study hours, overall mastery, and weak topics to monitor learning progress.</a:t>
            </a:r>
            <a:endParaRPr lang="en-US" altLang="en-US"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Required Files created using IBM bob -</a:t>
            </a:r>
            <a:endParaRPr sz="2400" b="1" dirty="0">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980" y="862965"/>
            <a:ext cx="3350260" cy="5477510"/>
          </a:xfrm>
          <a:prstGeom prst="rect">
            <a:avLst/>
          </a:prstGeom>
          <a:noFill/>
        </p:spPr>
        <p:txBody>
          <a:bodyPr wrap="square" rtlCol="0">
            <a:spAutoFit/>
          </a:bodyPr>
          <a:lstStyle/>
          <a:p>
            <a:pPr marL="342900" indent="-342900">
              <a:buFont typeface="+mj-lt"/>
              <a:buAutoNum type="arabicPeriod"/>
            </a:pPr>
            <a:endParaRPr lang="en-US" dirty="0"/>
          </a:p>
          <a:p>
            <a:pPr marL="0" indent="0">
              <a:buFont typeface="+mj-lt"/>
              <a:buNone/>
            </a:pPr>
            <a:r>
              <a:rPr lang="en-US" altLang="en-US" sz="1600" b="1" dirty="0"/>
              <a:t>Frontend</a:t>
            </a:r>
            <a:r>
              <a:rPr lang="en-US" altLang="en-US" dirty="0"/>
              <a:t> — </a:t>
            </a:r>
            <a:r>
              <a:rPr lang="en-US" altLang="en-US" sz="1600" dirty="0"/>
              <a:t>smartstudy-frontend: React-based website with the dashboard, AI Study Generator, flashcards, practice quizzes, study planner, concept maps, and analytics.</a:t>
            </a:r>
            <a:endParaRPr lang="en-US" altLang="en-US" sz="1600" dirty="0"/>
          </a:p>
          <a:p>
            <a:pPr marL="0" indent="0">
              <a:buFont typeface="+mj-lt"/>
              <a:buNone/>
            </a:pPr>
            <a:endParaRPr lang="en-US" altLang="en-US" sz="1600" dirty="0"/>
          </a:p>
          <a:p>
            <a:pPr marL="0" indent="0">
              <a:buFont typeface="+mj-lt"/>
              <a:buNone/>
            </a:pPr>
            <a:endParaRPr lang="en-US" altLang="en-US" sz="1600" dirty="0"/>
          </a:p>
          <a:p>
            <a:pPr marL="0" indent="0">
              <a:buFont typeface="+mj-lt"/>
              <a:buNone/>
            </a:pPr>
            <a:r>
              <a:rPr lang="en-US" altLang="en-US" sz="1600" b="1" dirty="0"/>
              <a:t>Backend </a:t>
            </a:r>
            <a:r>
              <a:rPr lang="en-US" altLang="en-US" dirty="0"/>
              <a:t>—</a:t>
            </a:r>
            <a:r>
              <a:rPr lang="en-US" altLang="en-US" sz="1600" dirty="0"/>
              <a:t> smartstudy-backend: </a:t>
            </a:r>
            <a:endParaRPr lang="en-US" altLang="en-US" sz="1600" dirty="0"/>
          </a:p>
          <a:p>
            <a:pPr marL="0" indent="0">
              <a:buFont typeface="+mj-lt"/>
              <a:buNone/>
            </a:pPr>
            <a:r>
              <a:rPr lang="en-US" altLang="en-US" sz="1600" dirty="0"/>
              <a:t>Python application with main.py, an app folder, requirements.txt, a database file, and a vector-store folder.</a:t>
            </a:r>
            <a:endParaRPr lang="en-US" altLang="en-US" sz="1600" dirty="0"/>
          </a:p>
          <a:p>
            <a:endParaRPr lang="en-US" sz="1600"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9" name="Rectangle 8"/>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pic>
        <p:nvPicPr>
          <p:cNvPr id="3" name="Picture 2" descr="Screenshot 2026-10-14 195541"/>
          <p:cNvPicPr>
            <a:picLocks noChangeAspect="1"/>
          </p:cNvPicPr>
          <p:nvPr/>
        </p:nvPicPr>
        <p:blipFill>
          <a:blip r:embed="rId1"/>
          <a:stretch>
            <a:fillRect/>
          </a:stretch>
        </p:blipFill>
        <p:spPr>
          <a:xfrm>
            <a:off x="3902075" y="862965"/>
            <a:ext cx="8063865" cy="5543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IBM Bob Screenshots:</a:t>
            </a:r>
            <a:endParaRPr sz="2400" b="1" dirty="0">
              <a:sym typeface="Times New Roman" panose="02020603050405020304"/>
            </a:endParaRPr>
          </a:p>
        </p:txBody>
      </p:sp>
      <p:pic>
        <p:nvPicPr>
          <p:cNvPr id="3" name="Picture 2"/>
          <p:cNvPicPr>
            <a:picLocks noChangeAspect="1"/>
          </p:cNvPicPr>
          <p:nvPr/>
        </p:nvPicPr>
        <p:blipFill>
          <a:blip r:embed="rId1"/>
          <a:stretch>
            <a:fillRect/>
          </a:stretch>
        </p:blipFill>
        <p:spPr>
          <a:xfrm>
            <a:off x="537845" y="902970"/>
            <a:ext cx="11026140" cy="57296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creenshot 2026-10-14 213404"/>
          <p:cNvPicPr>
            <a:picLocks noChangeAspect="1"/>
          </p:cNvPicPr>
          <p:nvPr/>
        </p:nvPicPr>
        <p:blipFill>
          <a:blip r:embed="rId1"/>
          <a:stretch>
            <a:fillRect/>
          </a:stretch>
        </p:blipFill>
        <p:spPr>
          <a:xfrm>
            <a:off x="765175" y="288925"/>
            <a:ext cx="10662285" cy="6235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panose="020F0502020204030204"/>
                <a:ea typeface="Calibri" panose="020F0502020204030204"/>
                <a:cs typeface="Calibri" panose="020F0502020204030204"/>
                <a:sym typeface="Calibri" panose="020F0502020204030204"/>
              </a:rPr>
              <a:t>Architecture blueprint for IBM bob:</a:t>
            </a:r>
            <a:endParaRPr lang="en-US" sz="2400" dirty="0"/>
          </a:p>
        </p:txBody>
      </p:sp>
      <p:pic>
        <p:nvPicPr>
          <p:cNvPr id="6" name="Picture 5"/>
          <p:cNvPicPr>
            <a:picLocks noChangeAspect="1"/>
          </p:cNvPicPr>
          <p:nvPr/>
        </p:nvPicPr>
        <p:blipFill>
          <a:blip r:embed="rId1"/>
          <a:stretch>
            <a:fillRect/>
          </a:stretch>
        </p:blipFill>
        <p:spPr>
          <a:xfrm>
            <a:off x="638810" y="771525"/>
            <a:ext cx="10395585" cy="5725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792" y="1167493"/>
            <a:ext cx="7406640" cy="5323205"/>
          </a:xfrm>
          <a:prstGeom prst="rect">
            <a:avLst/>
          </a:prstGeom>
          <a:noFill/>
        </p:spPr>
        <p:txBody>
          <a:bodyPr wrap="square" rtlCol="0">
            <a:spAutoFit/>
          </a:bodyPr>
          <a:lstStyle/>
          <a:p>
            <a:r>
              <a:rPr lang="en-US" altLang="en-US" sz="1600" b="1"/>
              <a:t>Role of Agentic AI in Smart Study Generator Agent</a:t>
            </a:r>
            <a:endParaRPr lang="en-US" altLang="en-US" sz="1600" b="1"/>
          </a:p>
          <a:p>
            <a:endParaRPr lang="en-US" altLang="en-US"/>
          </a:p>
          <a:p>
            <a:r>
              <a:rPr lang="en-US" altLang="en-US"/>
              <a:t>Agentic AI transforms the Smart Study Generator into an intelligent learning assistant rather than a simple chatbot.</a:t>
            </a:r>
            <a:endParaRPr lang="en-US" altLang="en-US"/>
          </a:p>
          <a:p>
            <a:endParaRPr lang="en-US" altLang="en-US"/>
          </a:p>
          <a:p>
            <a:r>
              <a:rPr lang="en-US" altLang="en-US" sz="1600" b="1"/>
              <a:t>Key Agentic AI Features:</a:t>
            </a:r>
            <a:endParaRPr lang="en-US" altLang="en-US" sz="1600" b="1"/>
          </a:p>
          <a:p>
            <a:endParaRPr lang="en-US" altLang="en-US" b="1"/>
          </a:p>
          <a:p>
            <a:r>
              <a:rPr lang="en-US" altLang="en-US" b="1"/>
              <a:t>- Autonomous Task Planning</a:t>
            </a:r>
            <a:r>
              <a:rPr lang="en-US" altLang="en-US"/>
              <a:t>: Organizes study activities based on learning goals.</a:t>
            </a:r>
            <a:endParaRPr lang="en-US" altLang="en-US"/>
          </a:p>
          <a:p>
            <a:endParaRPr lang="en-US" altLang="en-US"/>
          </a:p>
          <a:p>
            <a:r>
              <a:rPr lang="en-US" altLang="en-US" b="1"/>
              <a:t>- Multi-Agent Coordination:</a:t>
            </a:r>
            <a:r>
              <a:rPr lang="en-US" altLang="en-US"/>
              <a:t> Coordinates study material generation, quiz creation, doubt solving, and study planning.</a:t>
            </a:r>
            <a:endParaRPr lang="en-US" altLang="en-US"/>
          </a:p>
          <a:p>
            <a:endParaRPr lang="en-US" altLang="en-US"/>
          </a:p>
          <a:p>
            <a:r>
              <a:rPr lang="en-US" altLang="en-US" b="1"/>
              <a:t>- Context Awareness</a:t>
            </a:r>
            <a:r>
              <a:rPr lang="en-US" altLang="en-US"/>
              <a:t>: Understands students’ learning needs and uploaded study notes.</a:t>
            </a:r>
            <a:endParaRPr lang="en-US" altLang="en-US"/>
          </a:p>
          <a:p>
            <a:endParaRPr lang="en-US" altLang="en-US"/>
          </a:p>
          <a:p>
            <a:r>
              <a:rPr lang="en-US" altLang="en-US"/>
              <a:t>- </a:t>
            </a:r>
            <a:r>
              <a:rPr lang="en-US" altLang="en-US" b="1"/>
              <a:t>Tool Usage and Reasoning:</a:t>
            </a:r>
            <a:r>
              <a:rPr lang="en-US" altLang="en-US"/>
              <a:t> Selects appropriate tools to complete learning tasks.</a:t>
            </a:r>
            <a:endParaRPr lang="en-US" altLang="en-US"/>
          </a:p>
          <a:p>
            <a:endParaRPr lang="en-US" altLang="en-US"/>
          </a:p>
          <a:p>
            <a:r>
              <a:rPr lang="en-US" altLang="en-US" b="1"/>
              <a:t>- Adaptive Learning</a:t>
            </a:r>
            <a:r>
              <a:rPr lang="en-US" altLang="en-US"/>
              <a:t>: Identifies weak topics and adjusts recommendations based on quiz performance.</a:t>
            </a:r>
            <a:endParaRPr lang="en-US" altLang="en-US"/>
          </a:p>
          <a:p>
            <a:endParaRPr lang="en-US" altLang="en-US"/>
          </a:p>
          <a:p>
            <a:r>
              <a:rPr lang="en-US" altLang="en-US" b="1"/>
              <a:t>- Continuous Feedback:</a:t>
            </a:r>
            <a:r>
              <a:rPr lang="en-US" altLang="en-US"/>
              <a:t> Uses learning analytics to recommend the next steps for improvement.</a:t>
            </a:r>
            <a:endParaRPr lang="en-US" altLang="en-US"/>
          </a:p>
          <a:p>
            <a:endParaRPr lang="en-US" altLang="en-US"/>
          </a:p>
          <a:p>
            <a:r>
              <a:rPr lang="en-US" altLang="en-US"/>
              <a:t>These features enable personalized learning, efficient study management, and improved learning outcomes.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dirty="0">
                <a:sym typeface="Times New Roman" panose="02020603050405020304"/>
              </a:rPr>
              <a:t> Project Output Screenshot</a:t>
            </a:r>
            <a:endParaRPr sz="2400" b="1" dirty="0">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endParaRPr lang="en-US" sz="2000" dirty="0">
              <a:solidFill>
                <a:srgbClr val="FF0000"/>
              </a:solidFill>
            </a:endParaRPr>
          </a:p>
          <a:p>
            <a:r>
              <a:rPr lang="en-US" sz="2000" dirty="0">
                <a:solidFill>
                  <a:srgbClr val="FF0000"/>
                </a:solidFill>
              </a:rPr>
              <a:t>You can take 2-3 more slides for each screenshot</a:t>
            </a:r>
            <a:endParaRPr lang="en-IN" sz="2000" dirty="0">
              <a:solidFill>
                <a:srgbClr val="FF0000"/>
              </a:solidFill>
            </a:endParaRPr>
          </a:p>
        </p:txBody>
      </p:sp>
      <p:pic>
        <p:nvPicPr>
          <p:cNvPr id="6" name="Picture 5"/>
          <p:cNvPicPr>
            <a:picLocks noChangeAspect="1"/>
          </p:cNvPicPr>
          <p:nvPr/>
        </p:nvPicPr>
        <p:blipFill>
          <a:blip r:embed="rId1"/>
          <a:stretch>
            <a:fillRect/>
          </a:stretch>
        </p:blipFill>
        <p:spPr>
          <a:xfrm>
            <a:off x="291465" y="817245"/>
            <a:ext cx="11608435" cy="56064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dirty="0">
                <a:sym typeface="Times New Roman" panose="02020603050405020304"/>
              </a:rPr>
              <a:t> Project Output Screenshot</a:t>
            </a:r>
            <a:endParaRPr sz="2400" b="1" dirty="0">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endParaRPr lang="en-US" sz="2000" dirty="0">
              <a:solidFill>
                <a:srgbClr val="FF0000"/>
              </a:solidFill>
            </a:endParaRP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p:cNvPicPr>
            <a:picLocks noChangeAspect="1"/>
          </p:cNvPicPr>
          <p:nvPr/>
        </p:nvPicPr>
        <p:blipFill>
          <a:blip r:embed="rId1"/>
          <a:stretch>
            <a:fillRect/>
          </a:stretch>
        </p:blipFill>
        <p:spPr>
          <a:xfrm>
            <a:off x="488315" y="673100"/>
            <a:ext cx="10840085" cy="5883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dirty="0">
                <a:sym typeface="Times New Roman" panose="02020603050405020304"/>
              </a:rPr>
              <a:t> Project Output Screenshot</a:t>
            </a:r>
            <a:endParaRPr sz="2400" b="1" dirty="0">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endParaRPr lang="en-US" sz="2000" dirty="0">
              <a:solidFill>
                <a:srgbClr val="FF0000"/>
              </a:solidFill>
            </a:endParaRP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p:cNvPicPr>
            <a:picLocks noChangeAspect="1"/>
          </p:cNvPicPr>
          <p:nvPr/>
        </p:nvPicPr>
        <p:blipFill>
          <a:blip r:embed="rId1"/>
          <a:stretch>
            <a:fillRect/>
          </a:stretch>
        </p:blipFill>
        <p:spPr>
          <a:xfrm>
            <a:off x="408940" y="903605"/>
            <a:ext cx="10881360" cy="5323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1301984" cy="4184650"/>
          </a:xfrm>
          <a:prstGeom prst="rect">
            <a:avLst/>
          </a:prstGeom>
          <a:noFill/>
        </p:spPr>
        <p:txBody>
          <a:bodyPr wrap="square" rtlCol="0">
            <a:spAutoFit/>
          </a:bodyPr>
          <a:lstStyle/>
          <a:p>
            <a:endParaRPr lang="en-US" altLang="en-US"/>
          </a:p>
          <a:p>
            <a:r>
              <a:rPr lang="en-US" altLang="en-US" b="1"/>
              <a:t>Agentic AI Approach:</a:t>
            </a:r>
            <a:r>
              <a:rPr lang="en-US" altLang="en-US"/>
              <a:t> Goes beyond a traditional chatbot by autonomously identifying learning needs and recommending next steps.</a:t>
            </a:r>
            <a:endParaRPr lang="en-US" altLang="en-US"/>
          </a:p>
          <a:p>
            <a:r>
              <a:rPr lang="en-US" altLang="en-US"/>
              <a:t>Personalized Learning Experience: Generates customized notes, flashcards, quizzes, and study plans based on individual student performance.</a:t>
            </a:r>
            <a:endParaRPr lang="en-US" altLang="en-US"/>
          </a:p>
          <a:p>
            <a:endParaRPr lang="en-US" altLang="en-US"/>
          </a:p>
          <a:p>
            <a:r>
              <a:rPr lang="en-US" altLang="en-US" b="1"/>
              <a:t>RAG-Based Question Answering:</a:t>
            </a:r>
            <a:r>
              <a:rPr lang="en-US" altLang="en-US"/>
              <a:t> Provides context-aware answers from uploaded study materials with relevant source references.</a:t>
            </a:r>
            <a:endParaRPr lang="en-US" altLang="en-US"/>
          </a:p>
          <a:p>
            <a:endParaRPr lang="en-US" altLang="en-US"/>
          </a:p>
          <a:p>
            <a:endParaRPr lang="en-US" altLang="en-US"/>
          </a:p>
          <a:p>
            <a:r>
              <a:rPr lang="en-US" altLang="en-US" b="1"/>
              <a:t>Multimodal Input</a:t>
            </a:r>
            <a:r>
              <a:rPr lang="en-US" altLang="en-US"/>
              <a:t>: Supports multiple learning resources, including PDFs, documents, and textbook images.</a:t>
            </a:r>
            <a:endParaRPr lang="en-US" altLang="en-US"/>
          </a:p>
          <a:p>
            <a:endParaRPr lang="en-US" altLang="en-US"/>
          </a:p>
          <a:p>
            <a:endParaRPr lang="en-US" altLang="en-US"/>
          </a:p>
          <a:p>
            <a:endParaRPr lang="en-US" altLang="en-US"/>
          </a:p>
          <a:p>
            <a:r>
              <a:rPr lang="en-US" altLang="en-US" b="1"/>
              <a:t>Adaptive Weak-Area Detection:</a:t>
            </a:r>
            <a:r>
              <a:rPr lang="en-US" altLang="en-US"/>
              <a:t> Identifies difficult topics from quiz results and recommends targeted revision activities.</a:t>
            </a:r>
            <a:endParaRPr lang="en-US" altLang="en-US"/>
          </a:p>
          <a:p>
            <a:endParaRPr lang="en-US" altLang="en-US"/>
          </a:p>
          <a:p>
            <a:endParaRPr lang="en-US" altLang="en-US" b="1"/>
          </a:p>
          <a:p>
            <a:r>
              <a:rPr lang="en-US" altLang="en-US" b="1"/>
              <a:t>Integrated Learning Ecosystem</a:t>
            </a:r>
            <a:r>
              <a:rPr lang="en-US" altLang="en-US"/>
              <a:t>: Combines study material generation, AI tutoring, exam preparation, and progress analytics in one platform.</a:t>
            </a:r>
            <a:endParaRPr lang="en-US" altLang="en-US"/>
          </a:p>
          <a:p>
            <a:endParaRPr lang="en-US" altLang="en-US"/>
          </a:p>
          <a:p>
            <a:endParaRPr lang="en-US" altLang="en-US"/>
          </a:p>
          <a:p>
            <a:r>
              <a:rPr lang="en-US" altLang="en-US" b="1"/>
              <a:t>Continuous Learning Improvement:</a:t>
            </a:r>
            <a:r>
              <a:rPr lang="en-US" altLang="en-US"/>
              <a:t> Updates study recommendations based on quiz performance and completed learning activities.</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Please create public </a:t>
            </a:r>
            <a:r>
              <a:rPr lang="en-US" sz="1850" b="0" i="0" u="none" strike="noStrike" cap="none"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endPar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endPar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pP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b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1) All Agent relevant files of IBM Cloud , 2) yourproblemstatement.pdf file  3) your projectpresntation.pptx file 4)any other files </a:t>
            </a:r>
            <a:endPar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664210" y="212090"/>
            <a:ext cx="6998970" cy="913130"/>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565150" y="782955"/>
            <a:ext cx="10841355" cy="4378325"/>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Advanced Multimodal Learning</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Integrate voice commands, speech-to-text, and handwritten note recognition</a:t>
            </a:r>
            <a:r>
              <a:rPr lang="en-IN"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for easier learning.</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Personalized AI Learning:</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Adapt study plans, explanations, and quizzes according to each student's learning pace, strengths, and weaknesses.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Predictive Exam Preparation</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Analyze syllabus and previous question papers to identify frequently tested topics and improve exam preparation.</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Multilingual Support</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Support regional languages to make learning accessible to more students.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Mobile Application Integration</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Develop Android and iOS applications for learning anytime, anywhere.</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Real-Time Progress Analytics:</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Provide advanced performance tracking, topic mastery analysis, and personalized improvement recommendations.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Collaborative Learning</a:t>
            </a: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Enable students to share study materials, flashcards, notes, and quizzes with classmates.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LMS Integration: Integrate with platforms such as Moodle and Google Classroom for seamless access to academic resources.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6389965" cy="52197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a:t> </a:t>
            </a:r>
            <a:endParaRPr lang="en-US" sz="2800" b="1"/>
          </a:p>
        </p:txBody>
      </p:sp>
      <p:pic>
        <p:nvPicPr>
          <p:cNvPr id="2" name="Picture 1" descr="Screenshot 2026-10-14 123049"/>
          <p:cNvPicPr>
            <a:picLocks noChangeAspect="1"/>
          </p:cNvPicPr>
          <p:nvPr/>
        </p:nvPicPr>
        <p:blipFill>
          <a:blip r:embed="rId1"/>
          <a:srcRect t="3521" r="-631" b="4524"/>
          <a:stretch>
            <a:fillRect/>
          </a:stretch>
        </p:blipFill>
        <p:spPr>
          <a:xfrm>
            <a:off x="1059815" y="978535"/>
            <a:ext cx="9688830" cy="5359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pic>
        <p:nvPicPr>
          <p:cNvPr id="2" name="Picture 1" descr="Screenshot 2026-10-14 122521"/>
          <p:cNvPicPr>
            <a:picLocks noChangeAspect="1"/>
          </p:cNvPicPr>
          <p:nvPr/>
        </p:nvPicPr>
        <p:blipFill>
          <a:blip r:embed="rId1"/>
          <a:srcRect l="1794" t="1510" r="1679"/>
          <a:stretch>
            <a:fillRect/>
          </a:stretch>
        </p:blipFill>
        <p:spPr>
          <a:xfrm>
            <a:off x="1362710" y="695325"/>
            <a:ext cx="8893175" cy="54673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7843</Words>
  <Application>WPS Presentation</Application>
  <PresentationFormat>Widescreen</PresentationFormat>
  <Paragraphs>214</Paragraphs>
  <Slides>19</Slides>
  <Notes>16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Arial</vt:lpstr>
      <vt:lpstr>Calibri</vt:lpstr>
      <vt:lpstr>Times New Roman</vt:lpstr>
      <vt:lpstr>Microsoft YaHei</vt:lpstr>
      <vt:lpstr>Arial Unicode MS</vt:lpstr>
      <vt:lpstr>Segoe WPC</vt:lpstr>
      <vt:lpstr>Segoe Print</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Sinchana</cp:lastModifiedBy>
  <cp:revision>31</cp:revision>
  <dcterms:created xsi:type="dcterms:W3CDTF">2025-07-08T05:06:00Z</dcterms:created>
  <dcterms:modified xsi:type="dcterms:W3CDTF">2026-10-14T18:45:39Z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F5AB0E0AC37C4A36B547A85EE6675009_13</vt:lpwstr>
  </property>
</Properties>
</file>